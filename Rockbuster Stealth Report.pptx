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161" d="100"/>
          <a:sy n="161" d="100"/>
        </p:scale>
        <p:origin x="232"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35424-AB7D-549C-0522-7D434FFCC7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673A81-E19A-11CD-D6D4-BECA4F9308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645A72-761A-C7D4-D015-6BCDA7156B74}"/>
              </a:ext>
            </a:extLst>
          </p:cNvPr>
          <p:cNvSpPr>
            <a:spLocks noGrp="1"/>
          </p:cNvSpPr>
          <p:nvPr>
            <p:ph type="dt" sz="half" idx="10"/>
          </p:nvPr>
        </p:nvSpPr>
        <p:spPr/>
        <p:txBody>
          <a:bodyPr/>
          <a:lstStyle/>
          <a:p>
            <a:fld id="{892986D1-B75A-4C6A-9314-B973F76A5450}" type="datetimeFigureOut">
              <a:rPr lang="en-US" smtClean="0"/>
              <a:t>11/14/2022</a:t>
            </a:fld>
            <a:endParaRPr lang="en-US"/>
          </a:p>
        </p:txBody>
      </p:sp>
      <p:sp>
        <p:nvSpPr>
          <p:cNvPr id="5" name="Footer Placeholder 4">
            <a:extLst>
              <a:ext uri="{FF2B5EF4-FFF2-40B4-BE49-F238E27FC236}">
                <a16:creationId xmlns:a16="http://schemas.microsoft.com/office/drawing/2014/main" id="{09CF3D62-E728-FF6D-0907-F4BE98E5BE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228CAC-E9C0-DC92-DD86-D7156F7BB44E}"/>
              </a:ext>
            </a:extLst>
          </p:cNvPr>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1079724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FFD75-BDDE-5674-DD4E-46EC0D6E36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164FD9-E8C4-5C79-55FD-17749A80B2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078D46-C824-59CE-1DF4-44A53CFC6F78}"/>
              </a:ext>
            </a:extLst>
          </p:cNvPr>
          <p:cNvSpPr>
            <a:spLocks noGrp="1"/>
          </p:cNvSpPr>
          <p:nvPr>
            <p:ph type="dt" sz="half" idx="10"/>
          </p:nvPr>
        </p:nvSpPr>
        <p:spPr/>
        <p:txBody>
          <a:bodyPr/>
          <a:lstStyle/>
          <a:p>
            <a:fld id="{892986D1-B75A-4C6A-9314-B973F76A5450}" type="datetimeFigureOut">
              <a:rPr lang="en-US" smtClean="0"/>
              <a:t>11/14/2022</a:t>
            </a:fld>
            <a:endParaRPr lang="en-US"/>
          </a:p>
        </p:txBody>
      </p:sp>
      <p:sp>
        <p:nvSpPr>
          <p:cNvPr id="5" name="Footer Placeholder 4">
            <a:extLst>
              <a:ext uri="{FF2B5EF4-FFF2-40B4-BE49-F238E27FC236}">
                <a16:creationId xmlns:a16="http://schemas.microsoft.com/office/drawing/2014/main" id="{9E8CAE49-B087-6B93-24DE-7AB15C3E73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B00879-EBBB-FD74-7B39-70ECAA239AE3}"/>
              </a:ext>
            </a:extLst>
          </p:cNvPr>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2454504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CAAD4-4F41-D559-671F-40BEF47E82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8EFA92-C209-2CB8-7030-F2BD2B4F1A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C999D9-84C8-28C8-C5DD-0470E7B06770}"/>
              </a:ext>
            </a:extLst>
          </p:cNvPr>
          <p:cNvSpPr>
            <a:spLocks noGrp="1"/>
          </p:cNvSpPr>
          <p:nvPr>
            <p:ph type="dt" sz="half" idx="10"/>
          </p:nvPr>
        </p:nvSpPr>
        <p:spPr/>
        <p:txBody>
          <a:bodyPr/>
          <a:lstStyle/>
          <a:p>
            <a:fld id="{892986D1-B75A-4C6A-9314-B973F76A5450}" type="datetimeFigureOut">
              <a:rPr lang="en-US" smtClean="0"/>
              <a:t>11/14/2022</a:t>
            </a:fld>
            <a:endParaRPr lang="en-US"/>
          </a:p>
        </p:txBody>
      </p:sp>
      <p:sp>
        <p:nvSpPr>
          <p:cNvPr id="5" name="Footer Placeholder 4">
            <a:extLst>
              <a:ext uri="{FF2B5EF4-FFF2-40B4-BE49-F238E27FC236}">
                <a16:creationId xmlns:a16="http://schemas.microsoft.com/office/drawing/2014/main" id="{BF82E540-2981-7112-A1EA-7FBAE08495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D47EB-F8FB-629F-CE40-50E2F15255E9}"/>
              </a:ext>
            </a:extLst>
          </p:cNvPr>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2218635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6DDCE-E3F2-C3BA-9D94-E39F666B93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B45082-3A4D-B9C0-F0AF-AC5B0E08F3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12EE03-8A21-3DE1-8DC6-5D39C10D20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12E49A-62CD-E60C-8B37-F48566410151}"/>
              </a:ext>
            </a:extLst>
          </p:cNvPr>
          <p:cNvSpPr>
            <a:spLocks noGrp="1"/>
          </p:cNvSpPr>
          <p:nvPr>
            <p:ph type="dt" sz="half" idx="10"/>
          </p:nvPr>
        </p:nvSpPr>
        <p:spPr/>
        <p:txBody>
          <a:bodyPr/>
          <a:lstStyle/>
          <a:p>
            <a:fld id="{892986D1-B75A-4C6A-9314-B973F76A5450}" type="datetimeFigureOut">
              <a:rPr lang="en-US" smtClean="0"/>
              <a:t>11/14/2022</a:t>
            </a:fld>
            <a:endParaRPr lang="en-US"/>
          </a:p>
        </p:txBody>
      </p:sp>
      <p:sp>
        <p:nvSpPr>
          <p:cNvPr id="6" name="Footer Placeholder 5">
            <a:extLst>
              <a:ext uri="{FF2B5EF4-FFF2-40B4-BE49-F238E27FC236}">
                <a16:creationId xmlns:a16="http://schemas.microsoft.com/office/drawing/2014/main" id="{2D01E279-3779-7199-7E0D-88CEF5CBF2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C327D0-C1C6-03E0-FEAA-FAD4D2584DB0}"/>
              </a:ext>
            </a:extLst>
          </p:cNvPr>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311505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28F7A-49D7-EC6B-EE5D-5F91F2965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A36123-6B8D-4C79-445C-54F2B196FF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92CB60-2EC4-063F-EA20-ECB9D94E70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6B636A-295F-A12E-FA16-AA5F5FA0BD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3CF09B-DA3B-1854-3664-A5F396FFA9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663B5D-C15A-6D8D-9C10-4D90B60F137D}"/>
              </a:ext>
            </a:extLst>
          </p:cNvPr>
          <p:cNvSpPr>
            <a:spLocks noGrp="1"/>
          </p:cNvSpPr>
          <p:nvPr>
            <p:ph type="dt" sz="half" idx="10"/>
          </p:nvPr>
        </p:nvSpPr>
        <p:spPr/>
        <p:txBody>
          <a:bodyPr/>
          <a:lstStyle/>
          <a:p>
            <a:fld id="{892986D1-B75A-4C6A-9314-B973F76A5450}" type="datetimeFigureOut">
              <a:rPr lang="en-US" smtClean="0"/>
              <a:t>11/14/2022</a:t>
            </a:fld>
            <a:endParaRPr lang="en-US"/>
          </a:p>
        </p:txBody>
      </p:sp>
      <p:sp>
        <p:nvSpPr>
          <p:cNvPr id="8" name="Footer Placeholder 7">
            <a:extLst>
              <a:ext uri="{FF2B5EF4-FFF2-40B4-BE49-F238E27FC236}">
                <a16:creationId xmlns:a16="http://schemas.microsoft.com/office/drawing/2014/main" id="{06F242F0-CC13-6E7B-9304-C9A5C9C4AC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B7D980-3FF7-8DCE-0AEA-1FB39247BA5B}"/>
              </a:ext>
            </a:extLst>
          </p:cNvPr>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822585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03773-B344-90B6-7AF3-964311B11F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392403-1A2F-C7BE-F57B-76A433D05765}"/>
              </a:ext>
            </a:extLst>
          </p:cNvPr>
          <p:cNvSpPr>
            <a:spLocks noGrp="1"/>
          </p:cNvSpPr>
          <p:nvPr>
            <p:ph type="dt" sz="half" idx="10"/>
          </p:nvPr>
        </p:nvSpPr>
        <p:spPr/>
        <p:txBody>
          <a:bodyPr/>
          <a:lstStyle/>
          <a:p>
            <a:fld id="{892986D1-B75A-4C6A-9314-B973F76A5450}" type="datetimeFigureOut">
              <a:rPr lang="en-US" smtClean="0"/>
              <a:t>11/14/2022</a:t>
            </a:fld>
            <a:endParaRPr lang="en-US"/>
          </a:p>
        </p:txBody>
      </p:sp>
      <p:sp>
        <p:nvSpPr>
          <p:cNvPr id="4" name="Footer Placeholder 3">
            <a:extLst>
              <a:ext uri="{FF2B5EF4-FFF2-40B4-BE49-F238E27FC236}">
                <a16:creationId xmlns:a16="http://schemas.microsoft.com/office/drawing/2014/main" id="{8447CF26-2E48-5520-CA21-683A742C90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13A25A-36EF-759A-31F8-BE8171209929}"/>
              </a:ext>
            </a:extLst>
          </p:cNvPr>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235422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41EF41-6740-3B89-F25A-5AD2BA8A0DDD}"/>
              </a:ext>
            </a:extLst>
          </p:cNvPr>
          <p:cNvSpPr>
            <a:spLocks noGrp="1"/>
          </p:cNvSpPr>
          <p:nvPr>
            <p:ph type="dt" sz="half" idx="10"/>
          </p:nvPr>
        </p:nvSpPr>
        <p:spPr/>
        <p:txBody>
          <a:bodyPr/>
          <a:lstStyle/>
          <a:p>
            <a:fld id="{892986D1-B75A-4C6A-9314-B973F76A5450}" type="datetimeFigureOut">
              <a:rPr lang="en-US" smtClean="0"/>
              <a:t>11/14/2022</a:t>
            </a:fld>
            <a:endParaRPr lang="en-US"/>
          </a:p>
        </p:txBody>
      </p:sp>
      <p:sp>
        <p:nvSpPr>
          <p:cNvPr id="3" name="Footer Placeholder 2">
            <a:extLst>
              <a:ext uri="{FF2B5EF4-FFF2-40B4-BE49-F238E27FC236}">
                <a16:creationId xmlns:a16="http://schemas.microsoft.com/office/drawing/2014/main" id="{97514970-6DCA-BBE7-CCFC-644F0E8E0E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A11457-B24C-5777-8A43-8D63FB872CF8}"/>
              </a:ext>
            </a:extLst>
          </p:cNvPr>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3453218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5364D-9902-32B7-E403-5508A0F432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92F834-6B4B-F99A-8BA8-EF02F77D3E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C16C9C-5136-EF70-656B-7A908FC6FD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5F308A-441A-E8BF-2097-7AB041B3C295}"/>
              </a:ext>
            </a:extLst>
          </p:cNvPr>
          <p:cNvSpPr>
            <a:spLocks noGrp="1"/>
          </p:cNvSpPr>
          <p:nvPr>
            <p:ph type="dt" sz="half" idx="10"/>
          </p:nvPr>
        </p:nvSpPr>
        <p:spPr/>
        <p:txBody>
          <a:bodyPr/>
          <a:lstStyle/>
          <a:p>
            <a:fld id="{892986D1-B75A-4C6A-9314-B973F76A5450}" type="datetimeFigureOut">
              <a:rPr lang="en-US" smtClean="0"/>
              <a:t>11/14/2022</a:t>
            </a:fld>
            <a:endParaRPr lang="en-US"/>
          </a:p>
        </p:txBody>
      </p:sp>
      <p:sp>
        <p:nvSpPr>
          <p:cNvPr id="6" name="Footer Placeholder 5">
            <a:extLst>
              <a:ext uri="{FF2B5EF4-FFF2-40B4-BE49-F238E27FC236}">
                <a16:creationId xmlns:a16="http://schemas.microsoft.com/office/drawing/2014/main" id="{2CCA6DBD-D254-C662-E084-265A9A75F3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029794-8D2B-FEE9-52E1-BEE61BAFD8C3}"/>
              </a:ext>
            </a:extLst>
          </p:cNvPr>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2629143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08063-BCCE-4418-376B-E701609A64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C60002-4F53-5A44-BBE6-6685BE73B3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86B2A1-0C45-695F-1F40-294F01BB0D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F6AD60-80F7-8ECD-87EB-B7DC08B84471}"/>
              </a:ext>
            </a:extLst>
          </p:cNvPr>
          <p:cNvSpPr>
            <a:spLocks noGrp="1"/>
          </p:cNvSpPr>
          <p:nvPr>
            <p:ph type="dt" sz="half" idx="10"/>
          </p:nvPr>
        </p:nvSpPr>
        <p:spPr/>
        <p:txBody>
          <a:bodyPr/>
          <a:lstStyle/>
          <a:p>
            <a:fld id="{892986D1-B75A-4C6A-9314-B973F76A5450}" type="datetimeFigureOut">
              <a:rPr lang="en-US" smtClean="0"/>
              <a:t>11/14/2022</a:t>
            </a:fld>
            <a:endParaRPr lang="en-US"/>
          </a:p>
        </p:txBody>
      </p:sp>
      <p:sp>
        <p:nvSpPr>
          <p:cNvPr id="6" name="Footer Placeholder 5">
            <a:extLst>
              <a:ext uri="{FF2B5EF4-FFF2-40B4-BE49-F238E27FC236}">
                <a16:creationId xmlns:a16="http://schemas.microsoft.com/office/drawing/2014/main" id="{8ADF939D-B69D-4248-A693-6ABB3BF57C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BB1052-854B-3BCD-9D8D-01F1A6646756}"/>
              </a:ext>
            </a:extLst>
          </p:cNvPr>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3072995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55FB9-C834-E1BC-3D67-F0EC909772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669524-8ED1-679B-EEDC-2E02DC0A97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57B4E-762B-0679-4DCF-DF59E298BF0A}"/>
              </a:ext>
            </a:extLst>
          </p:cNvPr>
          <p:cNvSpPr>
            <a:spLocks noGrp="1"/>
          </p:cNvSpPr>
          <p:nvPr>
            <p:ph type="dt" sz="half" idx="10"/>
          </p:nvPr>
        </p:nvSpPr>
        <p:spPr/>
        <p:txBody>
          <a:bodyPr/>
          <a:lstStyle/>
          <a:p>
            <a:fld id="{892986D1-B75A-4C6A-9314-B973F76A5450}" type="datetimeFigureOut">
              <a:rPr lang="en-US" smtClean="0"/>
              <a:t>11/14/2022</a:t>
            </a:fld>
            <a:endParaRPr lang="en-US"/>
          </a:p>
        </p:txBody>
      </p:sp>
      <p:sp>
        <p:nvSpPr>
          <p:cNvPr id="5" name="Footer Placeholder 4">
            <a:extLst>
              <a:ext uri="{FF2B5EF4-FFF2-40B4-BE49-F238E27FC236}">
                <a16:creationId xmlns:a16="http://schemas.microsoft.com/office/drawing/2014/main" id="{4C633458-61DD-5A0E-6DC7-0685080F35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E1FCD3-4A55-277E-D963-79299D44F807}"/>
              </a:ext>
            </a:extLst>
          </p:cNvPr>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1064135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0EA543-3C6A-EB5C-C320-761D97395D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496622-D5A4-4347-E946-9C5529E3D0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7B4ADF-D92B-8FF6-E718-A1EF6F86E9D8}"/>
              </a:ext>
            </a:extLst>
          </p:cNvPr>
          <p:cNvSpPr>
            <a:spLocks noGrp="1"/>
          </p:cNvSpPr>
          <p:nvPr>
            <p:ph type="dt" sz="half" idx="10"/>
          </p:nvPr>
        </p:nvSpPr>
        <p:spPr/>
        <p:txBody>
          <a:bodyPr/>
          <a:lstStyle/>
          <a:p>
            <a:fld id="{892986D1-B75A-4C6A-9314-B973F76A5450}" type="datetimeFigureOut">
              <a:rPr lang="en-US" smtClean="0"/>
              <a:t>11/14/2022</a:t>
            </a:fld>
            <a:endParaRPr lang="en-US"/>
          </a:p>
        </p:txBody>
      </p:sp>
      <p:sp>
        <p:nvSpPr>
          <p:cNvPr id="5" name="Footer Placeholder 4">
            <a:extLst>
              <a:ext uri="{FF2B5EF4-FFF2-40B4-BE49-F238E27FC236}">
                <a16:creationId xmlns:a16="http://schemas.microsoft.com/office/drawing/2014/main" id="{8B57ADAD-1C55-AFF7-1E66-E941DAFD9F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8BD5A-3D7E-1456-0CD6-FE3E75A21B8E}"/>
              </a:ext>
            </a:extLst>
          </p:cNvPr>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39086554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2986D1-B75A-4C6A-9314-B973F76A5450}"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75C2EF-0EE5-415A-942B-DC17C892F4CD}" type="slidenum">
              <a:rPr lang="en-US" smtClean="0"/>
              <a:t>‹#›</a:t>
            </a:fld>
            <a:endParaRPr lang="en-US"/>
          </a:p>
        </p:txBody>
      </p:sp>
    </p:spTree>
    <p:extLst>
      <p:ext uri="{BB962C8B-B14F-4D97-AF65-F5344CB8AC3E}">
        <p14:creationId xmlns:p14="http://schemas.microsoft.com/office/powerpoint/2010/main" val="3019431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E6452B-3ED3-78DB-A4AC-79F627AD07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951730-8D0D-27A2-E898-AEF7D42362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B17D1F-C17C-6C99-578F-2FFC2210AA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2986D1-B75A-4C6A-9314-B973F76A5450}" type="datetimeFigureOut">
              <a:rPr lang="en-US" smtClean="0"/>
              <a:t>11/14/2022</a:t>
            </a:fld>
            <a:endParaRPr lang="en-US"/>
          </a:p>
        </p:txBody>
      </p:sp>
      <p:sp>
        <p:nvSpPr>
          <p:cNvPr id="5" name="Footer Placeholder 4">
            <a:extLst>
              <a:ext uri="{FF2B5EF4-FFF2-40B4-BE49-F238E27FC236}">
                <a16:creationId xmlns:a16="http://schemas.microsoft.com/office/drawing/2014/main" id="{D53212AD-18E1-030E-2177-A2BC2459EB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56E2ABC-A97D-F113-32C4-93269433F5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75C2EF-0EE5-415A-942B-DC17C892F4CD}" type="slidenum">
              <a:rPr lang="en-US" smtClean="0"/>
              <a:t>‹#›</a:t>
            </a:fld>
            <a:endParaRPr lang="en-US"/>
          </a:p>
        </p:txBody>
      </p:sp>
    </p:spTree>
    <p:extLst>
      <p:ext uri="{BB962C8B-B14F-4D97-AF65-F5344CB8AC3E}">
        <p14:creationId xmlns:p14="http://schemas.microsoft.com/office/powerpoint/2010/main" val="13974597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8.jpg"/><Relationship Id="rId2" Type="http://schemas.openxmlformats.org/officeDocument/2006/relationships/image" Target="../media/image3.jpg"/><Relationship Id="rId1" Type="http://schemas.openxmlformats.org/officeDocument/2006/relationships/slideLayout" Target="../slideLayouts/slideLayout1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public.tableau.com/views/RockbusterStealthVisualizations_16680553231870/RockbusterStealthStoryboard?:language=en-US&amp;publish=yes&amp;:display_count=n&amp;:origin=viz_share_link" TargetMode="External"/><Relationship Id="rId2" Type="http://schemas.openxmlformats.org/officeDocument/2006/relationships/hyperlink" Target="mailto:dgolcher86@gmail.com"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5027E-6698-908C-EA44-0798B2840F31}"/>
              </a:ext>
            </a:extLst>
          </p:cNvPr>
          <p:cNvSpPr>
            <a:spLocks noGrp="1"/>
          </p:cNvSpPr>
          <p:nvPr>
            <p:ph type="ctrTitle"/>
          </p:nvPr>
        </p:nvSpPr>
        <p:spPr>
          <a:xfrm>
            <a:off x="1167730" y="1769605"/>
            <a:ext cx="8617538" cy="1246728"/>
          </a:xfrm>
        </p:spPr>
        <p:txBody>
          <a:bodyPr vert="horz" lIns="91440" tIns="45720" rIns="91440" bIns="45720" rtlCol="0" anchor="ctr">
            <a:normAutofit fontScale="90000"/>
          </a:bodyPr>
          <a:lstStyle/>
          <a:p>
            <a:pPr algn="l"/>
            <a:r>
              <a:rPr lang="en-US" sz="8800" kern="1200" dirty="0">
                <a:solidFill>
                  <a:schemeClr val="tx1"/>
                </a:solidFill>
                <a:latin typeface="+mj-lt"/>
                <a:ea typeface="+mj-ea"/>
                <a:cs typeface="+mj-cs"/>
              </a:rPr>
              <a:t>Rockbuster Stealth</a:t>
            </a:r>
          </a:p>
        </p:txBody>
      </p:sp>
      <p:sp>
        <p:nvSpPr>
          <p:cNvPr id="3" name="Subtitle 2">
            <a:extLst>
              <a:ext uri="{FF2B5EF4-FFF2-40B4-BE49-F238E27FC236}">
                <a16:creationId xmlns:a16="http://schemas.microsoft.com/office/drawing/2014/main" id="{ED3A2A52-D5A0-140A-7BB2-6EF6F632F164}"/>
              </a:ext>
            </a:extLst>
          </p:cNvPr>
          <p:cNvSpPr>
            <a:spLocks noGrp="1"/>
          </p:cNvSpPr>
          <p:nvPr>
            <p:ph type="subTitle" idx="1"/>
          </p:nvPr>
        </p:nvSpPr>
        <p:spPr>
          <a:xfrm>
            <a:off x="1232852" y="3249395"/>
            <a:ext cx="5118884" cy="1281070"/>
          </a:xfrm>
        </p:spPr>
        <p:txBody>
          <a:bodyPr vert="horz" lIns="91440" tIns="45720" rIns="91440" bIns="45720" rtlCol="0">
            <a:normAutofit/>
          </a:bodyPr>
          <a:lstStyle/>
          <a:p>
            <a:pPr algn="l"/>
            <a:r>
              <a:rPr lang="en-US" sz="3200" kern="1200" dirty="0">
                <a:solidFill>
                  <a:schemeClr val="tx1"/>
                </a:solidFill>
                <a:latin typeface="+mn-lt"/>
                <a:ea typeface="+mn-ea"/>
                <a:cs typeface="+mn-cs"/>
              </a:rPr>
              <a:t>Business Intelligence Report</a:t>
            </a:r>
          </a:p>
        </p:txBody>
      </p:sp>
      <p:pic>
        <p:nvPicPr>
          <p:cNvPr id="5" name="Graphic 4" descr="Film reel with solid fill">
            <a:extLst>
              <a:ext uri="{FF2B5EF4-FFF2-40B4-BE49-F238E27FC236}">
                <a16:creationId xmlns:a16="http://schemas.microsoft.com/office/drawing/2014/main" id="{F769F6DA-E464-4381-614E-A4F624EE02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3021" y="2882669"/>
            <a:ext cx="1916817" cy="1916817"/>
          </a:xfrm>
          <a:prstGeom prst="rect">
            <a:avLst/>
          </a:prstGeom>
        </p:spPr>
      </p:pic>
      <p:sp>
        <p:nvSpPr>
          <p:cNvPr id="6" name="TextBox 5">
            <a:extLst>
              <a:ext uri="{FF2B5EF4-FFF2-40B4-BE49-F238E27FC236}">
                <a16:creationId xmlns:a16="http://schemas.microsoft.com/office/drawing/2014/main" id="{DD1DA964-5414-DBA3-96BE-A4182EF833E6}"/>
              </a:ext>
            </a:extLst>
          </p:cNvPr>
          <p:cNvSpPr txBox="1"/>
          <p:nvPr/>
        </p:nvSpPr>
        <p:spPr>
          <a:xfrm>
            <a:off x="1322061" y="5888095"/>
            <a:ext cx="3301340" cy="338554"/>
          </a:xfrm>
          <a:prstGeom prst="rect">
            <a:avLst/>
          </a:prstGeom>
          <a:noFill/>
        </p:spPr>
        <p:txBody>
          <a:bodyPr wrap="square" rtlCol="0">
            <a:spAutoFit/>
          </a:bodyPr>
          <a:lstStyle/>
          <a:p>
            <a:pPr>
              <a:spcAft>
                <a:spcPts val="600"/>
              </a:spcAft>
            </a:pPr>
            <a:r>
              <a:rPr lang="en-US" sz="1600" dirty="0"/>
              <a:t>Created by: Dylan Golcher</a:t>
            </a:r>
          </a:p>
        </p:txBody>
      </p:sp>
    </p:spTree>
    <p:extLst>
      <p:ext uri="{BB962C8B-B14F-4D97-AF65-F5344CB8AC3E}">
        <p14:creationId xmlns:p14="http://schemas.microsoft.com/office/powerpoint/2010/main" val="1962981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98E42-05D5-F97E-89CD-92BA5D8C5ADE}"/>
              </a:ext>
            </a:extLst>
          </p:cNvPr>
          <p:cNvSpPr>
            <a:spLocks noGrp="1"/>
          </p:cNvSpPr>
          <p:nvPr>
            <p:ph type="title"/>
          </p:nvPr>
        </p:nvSpPr>
        <p:spPr>
          <a:xfrm>
            <a:off x="644628" y="213757"/>
            <a:ext cx="10058400" cy="1310243"/>
          </a:xfrm>
        </p:spPr>
        <p:txBody>
          <a:bodyPr/>
          <a:lstStyle/>
          <a:p>
            <a:r>
              <a:rPr lang="en-US" dirty="0"/>
              <a:t>Overview &amp; objectives</a:t>
            </a:r>
          </a:p>
        </p:txBody>
      </p:sp>
      <p:sp>
        <p:nvSpPr>
          <p:cNvPr id="3" name="Text Placeholder 2">
            <a:extLst>
              <a:ext uri="{FF2B5EF4-FFF2-40B4-BE49-F238E27FC236}">
                <a16:creationId xmlns:a16="http://schemas.microsoft.com/office/drawing/2014/main" id="{451A9A4A-D7A1-C187-1979-1A4E4450AD71}"/>
              </a:ext>
            </a:extLst>
          </p:cNvPr>
          <p:cNvSpPr>
            <a:spLocks noGrp="1"/>
          </p:cNvSpPr>
          <p:nvPr>
            <p:ph type="body" idx="1"/>
          </p:nvPr>
        </p:nvSpPr>
        <p:spPr>
          <a:xfrm>
            <a:off x="644628" y="1524000"/>
            <a:ext cx="10902744" cy="1418999"/>
          </a:xfrm>
        </p:spPr>
        <p:txBody>
          <a:bodyPr>
            <a:normAutofit lnSpcReduction="10000"/>
          </a:bodyPr>
          <a:lstStyle/>
          <a:p>
            <a:r>
              <a:rPr lang="en-US" sz="1600" b="1" dirty="0">
                <a:solidFill>
                  <a:schemeClr val="tx1"/>
                </a:solidFill>
              </a:rPr>
              <a:t>Project Overview:</a:t>
            </a:r>
          </a:p>
          <a:p>
            <a:endParaRPr lang="en-US" sz="1600" b="1" dirty="0">
              <a:solidFill>
                <a:schemeClr val="tx1"/>
              </a:solidFill>
            </a:endParaRPr>
          </a:p>
          <a:p>
            <a:r>
              <a:rPr lang="en-US" sz="1600" dirty="0">
                <a:solidFill>
                  <a:schemeClr val="tx1"/>
                </a:solidFill>
              </a:rPr>
              <a:t>Once a profitable business model, the brick-and-mortar movie rental industry has undergone a paradigm shift in recent years with the growing popularity of streaming services such as Netflix, Amazon, and Hulu. To maintain profitability and appeal to more customers, Rockbuster Stealth has decided to launch its own streaming/digital rental service.</a:t>
            </a:r>
          </a:p>
        </p:txBody>
      </p:sp>
      <p:sp>
        <p:nvSpPr>
          <p:cNvPr id="5" name="TextBox 4">
            <a:extLst>
              <a:ext uri="{FF2B5EF4-FFF2-40B4-BE49-F238E27FC236}">
                <a16:creationId xmlns:a16="http://schemas.microsoft.com/office/drawing/2014/main" id="{2309F2E8-8097-11FB-7A1E-F08FED96B219}"/>
              </a:ext>
            </a:extLst>
          </p:cNvPr>
          <p:cNvSpPr txBox="1"/>
          <p:nvPr/>
        </p:nvSpPr>
        <p:spPr>
          <a:xfrm>
            <a:off x="644628" y="3084006"/>
            <a:ext cx="6116390" cy="2308324"/>
          </a:xfrm>
          <a:prstGeom prst="rect">
            <a:avLst/>
          </a:prstGeom>
          <a:noFill/>
        </p:spPr>
        <p:txBody>
          <a:bodyPr wrap="square" rtlCol="0">
            <a:spAutoFit/>
          </a:bodyPr>
          <a:lstStyle/>
          <a:p>
            <a:r>
              <a:rPr lang="en-US" sz="1600" b="1" dirty="0"/>
              <a:t>Key Objectives:</a:t>
            </a:r>
          </a:p>
          <a:p>
            <a:endParaRPr lang="en-US" sz="1600" dirty="0"/>
          </a:p>
          <a:p>
            <a:endParaRPr lang="en-US" sz="1600" dirty="0"/>
          </a:p>
          <a:p>
            <a:pPr marL="285750" indent="-285750">
              <a:buFont typeface="Arial" panose="020B0604020202020204" pitchFamily="34" charset="0"/>
              <a:buChar char="•"/>
            </a:pPr>
            <a:r>
              <a:rPr lang="en-US" sz="1600" dirty="0"/>
              <a:t>Understand which tables in our database are most/least profitable</a:t>
            </a:r>
          </a:p>
          <a:p>
            <a:pPr marL="285750" indent="-285750">
              <a:buFont typeface="Arial" panose="020B0604020202020204" pitchFamily="34" charset="0"/>
              <a:buChar char="•"/>
            </a:pPr>
            <a:r>
              <a:rPr lang="en-US" sz="1600" dirty="0"/>
              <a:t>Understand which genres are the most/least profitable</a:t>
            </a:r>
          </a:p>
          <a:p>
            <a:pPr marL="285750" indent="-285750">
              <a:buFont typeface="Arial" panose="020B0604020202020204" pitchFamily="34" charset="0"/>
              <a:buChar char="•"/>
            </a:pPr>
            <a:r>
              <a:rPr lang="en-US" sz="1600" dirty="0"/>
              <a:t>Understand where out customers reside</a:t>
            </a:r>
          </a:p>
          <a:p>
            <a:pPr marL="285750" indent="-285750">
              <a:buFont typeface="Arial" panose="020B0604020202020204" pitchFamily="34" charset="0"/>
              <a:buChar char="•"/>
            </a:pPr>
            <a:r>
              <a:rPr lang="en-US" sz="1600" dirty="0"/>
              <a:t>Understand how sales figures differ by region</a:t>
            </a:r>
          </a:p>
          <a:p>
            <a:pPr marL="285750" indent="-285750">
              <a:buFont typeface="Arial" panose="020B0604020202020204" pitchFamily="34" charset="0"/>
              <a:buChar char="•"/>
            </a:pPr>
            <a:r>
              <a:rPr lang="en-US" sz="1600" dirty="0"/>
              <a:t>Understand who are highest value customer are</a:t>
            </a:r>
            <a:endParaRPr lang="en-US" sz="1600" dirty="0">
              <a:solidFill>
                <a:schemeClr val="bg2">
                  <a:lumMod val="75000"/>
                </a:schemeClr>
              </a:solidFill>
            </a:endParaRPr>
          </a:p>
          <a:p>
            <a:pPr marL="285750" indent="-285750">
              <a:buFont typeface="Arial" panose="020B0604020202020204" pitchFamily="34" charset="0"/>
              <a:buChar char="•"/>
            </a:pPr>
            <a:endParaRPr lang="en-US" sz="1600" dirty="0">
              <a:solidFill>
                <a:schemeClr val="bg2">
                  <a:lumMod val="75000"/>
                </a:schemeClr>
              </a:solidFill>
            </a:endParaRPr>
          </a:p>
        </p:txBody>
      </p:sp>
    </p:spTree>
    <p:extLst>
      <p:ext uri="{BB962C8B-B14F-4D97-AF65-F5344CB8AC3E}">
        <p14:creationId xmlns:p14="http://schemas.microsoft.com/office/powerpoint/2010/main" val="3592959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98E42-05D5-F97E-89CD-92BA5D8C5ADE}"/>
              </a:ext>
            </a:extLst>
          </p:cNvPr>
          <p:cNvSpPr>
            <a:spLocks noGrp="1"/>
          </p:cNvSpPr>
          <p:nvPr>
            <p:ph type="title"/>
          </p:nvPr>
        </p:nvSpPr>
        <p:spPr>
          <a:xfrm>
            <a:off x="644628" y="213757"/>
            <a:ext cx="10058400" cy="1310243"/>
          </a:xfrm>
        </p:spPr>
        <p:txBody>
          <a:bodyPr/>
          <a:lstStyle/>
          <a:p>
            <a:r>
              <a:rPr lang="en-US" dirty="0"/>
              <a:t>Rockbuster stealth stats at a glance</a:t>
            </a:r>
          </a:p>
        </p:txBody>
      </p:sp>
      <p:sp>
        <p:nvSpPr>
          <p:cNvPr id="3" name="Text Placeholder 2">
            <a:extLst>
              <a:ext uri="{FF2B5EF4-FFF2-40B4-BE49-F238E27FC236}">
                <a16:creationId xmlns:a16="http://schemas.microsoft.com/office/drawing/2014/main" id="{451A9A4A-D7A1-C187-1979-1A4E4450AD71}"/>
              </a:ext>
            </a:extLst>
          </p:cNvPr>
          <p:cNvSpPr>
            <a:spLocks noGrp="1"/>
          </p:cNvSpPr>
          <p:nvPr>
            <p:ph type="body" idx="1"/>
          </p:nvPr>
        </p:nvSpPr>
        <p:spPr>
          <a:xfrm>
            <a:off x="644629" y="1293861"/>
            <a:ext cx="8535988" cy="757604"/>
          </a:xfrm>
        </p:spPr>
        <p:txBody>
          <a:bodyPr>
            <a:normAutofit/>
          </a:bodyPr>
          <a:lstStyle/>
          <a:p>
            <a:r>
              <a:rPr lang="en-US" sz="1800" dirty="0">
                <a:solidFill>
                  <a:schemeClr val="tx1"/>
                </a:solidFill>
              </a:rPr>
              <a:t>Let’s look at some key Rockbuster statistics for our current business model :</a:t>
            </a:r>
          </a:p>
        </p:txBody>
      </p:sp>
      <p:pic>
        <p:nvPicPr>
          <p:cNvPr id="8" name="Picture 7" descr="Icon&#10;&#10;Description automatically generated">
            <a:extLst>
              <a:ext uri="{FF2B5EF4-FFF2-40B4-BE49-F238E27FC236}">
                <a16:creationId xmlns:a16="http://schemas.microsoft.com/office/drawing/2014/main" id="{13A0FE15-83AC-F94C-A724-0B0FFBD201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628" y="2620869"/>
            <a:ext cx="750775" cy="543914"/>
          </a:xfrm>
          <a:prstGeom prst="rect">
            <a:avLst/>
          </a:prstGeom>
        </p:spPr>
      </p:pic>
      <p:pic>
        <p:nvPicPr>
          <p:cNvPr id="10" name="Picture 9" descr="Icon&#10;&#10;Description automatically generated">
            <a:extLst>
              <a:ext uri="{FF2B5EF4-FFF2-40B4-BE49-F238E27FC236}">
                <a16:creationId xmlns:a16="http://schemas.microsoft.com/office/drawing/2014/main" id="{74BF839E-95F7-BA4B-E046-FFC8A8C022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456" y="3734187"/>
            <a:ext cx="677117" cy="543914"/>
          </a:xfrm>
          <a:prstGeom prst="rect">
            <a:avLst/>
          </a:prstGeom>
        </p:spPr>
      </p:pic>
      <p:pic>
        <p:nvPicPr>
          <p:cNvPr id="12" name="Picture 11" descr="Icon&#10;&#10;Description automatically generated">
            <a:extLst>
              <a:ext uri="{FF2B5EF4-FFF2-40B4-BE49-F238E27FC236}">
                <a16:creationId xmlns:a16="http://schemas.microsoft.com/office/drawing/2014/main" id="{B94EE959-0E24-098C-F98E-EDF608990A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979" y="4798047"/>
            <a:ext cx="674594" cy="626094"/>
          </a:xfrm>
          <a:prstGeom prst="rect">
            <a:avLst/>
          </a:prstGeom>
        </p:spPr>
      </p:pic>
      <p:pic>
        <p:nvPicPr>
          <p:cNvPr id="14" name="Picture 13" descr="Icon&#10;&#10;Description automatically generated">
            <a:extLst>
              <a:ext uri="{FF2B5EF4-FFF2-40B4-BE49-F238E27FC236}">
                <a16:creationId xmlns:a16="http://schemas.microsoft.com/office/drawing/2014/main" id="{C2AC7204-D12C-36FD-5360-9F2095F1F1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2623" y="2635392"/>
            <a:ext cx="417624" cy="543915"/>
          </a:xfrm>
          <a:prstGeom prst="rect">
            <a:avLst/>
          </a:prstGeom>
        </p:spPr>
      </p:pic>
      <p:pic>
        <p:nvPicPr>
          <p:cNvPr id="16" name="Picture 15">
            <a:extLst>
              <a:ext uri="{FF2B5EF4-FFF2-40B4-BE49-F238E27FC236}">
                <a16:creationId xmlns:a16="http://schemas.microsoft.com/office/drawing/2014/main" id="{3FF31E5B-83FA-4D8C-C841-A3BD9BACB8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0276" y="4732292"/>
            <a:ext cx="751313" cy="626094"/>
          </a:xfrm>
          <a:prstGeom prst="rect">
            <a:avLst/>
          </a:prstGeom>
        </p:spPr>
      </p:pic>
      <p:pic>
        <p:nvPicPr>
          <p:cNvPr id="18" name="Picture 17" descr="A picture containing text, clipart&#10;&#10;Description automatically generated">
            <a:extLst>
              <a:ext uri="{FF2B5EF4-FFF2-40B4-BE49-F238E27FC236}">
                <a16:creationId xmlns:a16="http://schemas.microsoft.com/office/drawing/2014/main" id="{CFA3CB7A-7C95-2C60-F86F-7DF3771508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15876" y="3678694"/>
            <a:ext cx="564488" cy="524513"/>
          </a:xfrm>
          <a:prstGeom prst="rect">
            <a:avLst/>
          </a:prstGeom>
        </p:spPr>
      </p:pic>
      <p:sp>
        <p:nvSpPr>
          <p:cNvPr id="19" name="TextBox 18">
            <a:extLst>
              <a:ext uri="{FF2B5EF4-FFF2-40B4-BE49-F238E27FC236}">
                <a16:creationId xmlns:a16="http://schemas.microsoft.com/office/drawing/2014/main" id="{D0F351A0-77F8-838C-3511-7E5994EDAEF2}"/>
              </a:ext>
            </a:extLst>
          </p:cNvPr>
          <p:cNvSpPr txBox="1"/>
          <p:nvPr/>
        </p:nvSpPr>
        <p:spPr>
          <a:xfrm>
            <a:off x="1524000" y="2708160"/>
            <a:ext cx="1733006" cy="338554"/>
          </a:xfrm>
          <a:prstGeom prst="rect">
            <a:avLst/>
          </a:prstGeom>
          <a:noFill/>
        </p:spPr>
        <p:txBody>
          <a:bodyPr wrap="square" rtlCol="0">
            <a:spAutoFit/>
          </a:bodyPr>
          <a:lstStyle/>
          <a:p>
            <a:r>
              <a:rPr lang="en-US" sz="1600" dirty="0"/>
              <a:t>599 Customers</a:t>
            </a:r>
          </a:p>
        </p:txBody>
      </p:sp>
      <p:sp>
        <p:nvSpPr>
          <p:cNvPr id="20" name="TextBox 19">
            <a:extLst>
              <a:ext uri="{FF2B5EF4-FFF2-40B4-BE49-F238E27FC236}">
                <a16:creationId xmlns:a16="http://schemas.microsoft.com/office/drawing/2014/main" id="{EAE733E7-5110-F49A-57B1-021546CDEF16}"/>
              </a:ext>
            </a:extLst>
          </p:cNvPr>
          <p:cNvSpPr txBox="1"/>
          <p:nvPr/>
        </p:nvSpPr>
        <p:spPr>
          <a:xfrm>
            <a:off x="1524000" y="3821478"/>
            <a:ext cx="1297577" cy="338554"/>
          </a:xfrm>
          <a:prstGeom prst="rect">
            <a:avLst/>
          </a:prstGeom>
          <a:noFill/>
        </p:spPr>
        <p:txBody>
          <a:bodyPr wrap="square" rtlCol="0">
            <a:spAutoFit/>
          </a:bodyPr>
          <a:lstStyle/>
          <a:p>
            <a:r>
              <a:rPr lang="en-US" sz="1600" dirty="0"/>
              <a:t>1000 Films</a:t>
            </a:r>
          </a:p>
        </p:txBody>
      </p:sp>
      <p:sp>
        <p:nvSpPr>
          <p:cNvPr id="21" name="TextBox 20">
            <a:extLst>
              <a:ext uri="{FF2B5EF4-FFF2-40B4-BE49-F238E27FC236}">
                <a16:creationId xmlns:a16="http://schemas.microsoft.com/office/drawing/2014/main" id="{79894BDB-1DDB-F68E-CCA4-7C944C9B134A}"/>
              </a:ext>
            </a:extLst>
          </p:cNvPr>
          <p:cNvSpPr txBox="1"/>
          <p:nvPr/>
        </p:nvSpPr>
        <p:spPr>
          <a:xfrm>
            <a:off x="1524000" y="4926428"/>
            <a:ext cx="2695303" cy="338554"/>
          </a:xfrm>
          <a:prstGeom prst="rect">
            <a:avLst/>
          </a:prstGeom>
          <a:noFill/>
        </p:spPr>
        <p:txBody>
          <a:bodyPr wrap="square" rtlCol="0">
            <a:spAutoFit/>
          </a:bodyPr>
          <a:lstStyle/>
          <a:p>
            <a:r>
              <a:rPr lang="en-US" sz="1600" dirty="0"/>
              <a:t>Most movies rated PG-13</a:t>
            </a:r>
          </a:p>
        </p:txBody>
      </p:sp>
      <p:sp>
        <p:nvSpPr>
          <p:cNvPr id="22" name="TextBox 21">
            <a:extLst>
              <a:ext uri="{FF2B5EF4-FFF2-40B4-BE49-F238E27FC236}">
                <a16:creationId xmlns:a16="http://schemas.microsoft.com/office/drawing/2014/main" id="{E0B9D1AD-BB9F-DC59-B97C-66B94E5AE618}"/>
              </a:ext>
            </a:extLst>
          </p:cNvPr>
          <p:cNvSpPr txBox="1"/>
          <p:nvPr/>
        </p:nvSpPr>
        <p:spPr>
          <a:xfrm>
            <a:off x="5610299" y="2708160"/>
            <a:ext cx="2608217" cy="338554"/>
          </a:xfrm>
          <a:prstGeom prst="rect">
            <a:avLst/>
          </a:prstGeom>
          <a:noFill/>
        </p:spPr>
        <p:txBody>
          <a:bodyPr wrap="square" rtlCol="0">
            <a:spAutoFit/>
          </a:bodyPr>
          <a:lstStyle/>
          <a:p>
            <a:r>
              <a:rPr lang="en-US" sz="1600" dirty="0"/>
              <a:t>2.99 Average rental rate</a:t>
            </a:r>
          </a:p>
        </p:txBody>
      </p:sp>
      <p:sp>
        <p:nvSpPr>
          <p:cNvPr id="23" name="TextBox 22">
            <a:extLst>
              <a:ext uri="{FF2B5EF4-FFF2-40B4-BE49-F238E27FC236}">
                <a16:creationId xmlns:a16="http://schemas.microsoft.com/office/drawing/2014/main" id="{CA5C019A-1AE9-1031-D754-D72C6BDF0774}"/>
              </a:ext>
            </a:extLst>
          </p:cNvPr>
          <p:cNvSpPr txBox="1"/>
          <p:nvPr/>
        </p:nvSpPr>
        <p:spPr>
          <a:xfrm>
            <a:off x="5610299" y="3805842"/>
            <a:ext cx="3104606" cy="338554"/>
          </a:xfrm>
          <a:prstGeom prst="rect">
            <a:avLst/>
          </a:prstGeom>
          <a:noFill/>
        </p:spPr>
        <p:txBody>
          <a:bodyPr wrap="square" rtlCol="0">
            <a:spAutoFit/>
          </a:bodyPr>
          <a:lstStyle/>
          <a:p>
            <a:r>
              <a:rPr lang="en-US" sz="1600" dirty="0"/>
              <a:t>5 Day average rental duration</a:t>
            </a:r>
          </a:p>
        </p:txBody>
      </p:sp>
      <p:sp>
        <p:nvSpPr>
          <p:cNvPr id="24" name="TextBox 23">
            <a:extLst>
              <a:ext uri="{FF2B5EF4-FFF2-40B4-BE49-F238E27FC236}">
                <a16:creationId xmlns:a16="http://schemas.microsoft.com/office/drawing/2014/main" id="{18AE3D6D-3903-03FB-FB63-CC12FE972E64}"/>
              </a:ext>
            </a:extLst>
          </p:cNvPr>
          <p:cNvSpPr txBox="1"/>
          <p:nvPr/>
        </p:nvSpPr>
        <p:spPr>
          <a:xfrm>
            <a:off x="5610299" y="4860673"/>
            <a:ext cx="3879669" cy="338554"/>
          </a:xfrm>
          <a:prstGeom prst="rect">
            <a:avLst/>
          </a:prstGeom>
          <a:noFill/>
        </p:spPr>
        <p:txBody>
          <a:bodyPr wrap="square" rtlCol="0">
            <a:spAutoFit/>
          </a:bodyPr>
          <a:lstStyle/>
          <a:p>
            <a:r>
              <a:rPr lang="en-US" sz="1600" dirty="0"/>
              <a:t>Customers in 108 countries worldwide</a:t>
            </a:r>
          </a:p>
        </p:txBody>
      </p:sp>
    </p:spTree>
    <p:extLst>
      <p:ext uri="{BB962C8B-B14F-4D97-AF65-F5344CB8AC3E}">
        <p14:creationId xmlns:p14="http://schemas.microsoft.com/office/powerpoint/2010/main" val="1250455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98E42-05D5-F97E-89CD-92BA5D8C5ADE}"/>
              </a:ext>
            </a:extLst>
          </p:cNvPr>
          <p:cNvSpPr>
            <a:spLocks noGrp="1"/>
          </p:cNvSpPr>
          <p:nvPr>
            <p:ph type="title"/>
          </p:nvPr>
        </p:nvSpPr>
        <p:spPr>
          <a:xfrm>
            <a:off x="644628" y="213758"/>
            <a:ext cx="10058400" cy="957942"/>
          </a:xfrm>
        </p:spPr>
        <p:txBody>
          <a:bodyPr/>
          <a:lstStyle/>
          <a:p>
            <a:r>
              <a:rPr lang="en-US" dirty="0"/>
              <a:t>Film portfolio: top 5 &amp; bottom 5</a:t>
            </a:r>
          </a:p>
        </p:txBody>
      </p:sp>
      <p:sp>
        <p:nvSpPr>
          <p:cNvPr id="3" name="Text Placeholder 2">
            <a:extLst>
              <a:ext uri="{FF2B5EF4-FFF2-40B4-BE49-F238E27FC236}">
                <a16:creationId xmlns:a16="http://schemas.microsoft.com/office/drawing/2014/main" id="{451A9A4A-D7A1-C187-1979-1A4E4450AD71}"/>
              </a:ext>
            </a:extLst>
          </p:cNvPr>
          <p:cNvSpPr>
            <a:spLocks noGrp="1"/>
          </p:cNvSpPr>
          <p:nvPr>
            <p:ph type="body" idx="1"/>
          </p:nvPr>
        </p:nvSpPr>
        <p:spPr>
          <a:xfrm>
            <a:off x="644628" y="1171700"/>
            <a:ext cx="10027330" cy="378822"/>
          </a:xfrm>
        </p:spPr>
        <p:txBody>
          <a:bodyPr>
            <a:normAutofit/>
          </a:bodyPr>
          <a:lstStyle/>
          <a:p>
            <a:r>
              <a:rPr lang="en-US" sz="1800" dirty="0">
                <a:solidFill>
                  <a:schemeClr val="tx1"/>
                </a:solidFill>
              </a:rPr>
              <a:t>Let’s compare our top 5 highest grossing movies to our bottom 5.</a:t>
            </a:r>
          </a:p>
        </p:txBody>
      </p:sp>
      <p:pic>
        <p:nvPicPr>
          <p:cNvPr id="7" name="Picture 6">
            <a:extLst>
              <a:ext uri="{FF2B5EF4-FFF2-40B4-BE49-F238E27FC236}">
                <a16:creationId xmlns:a16="http://schemas.microsoft.com/office/drawing/2014/main" id="{EF6D5557-E7D2-D41A-7DEB-5B33EC4FEA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1293" y="1860465"/>
            <a:ext cx="9009413" cy="4834636"/>
          </a:xfrm>
          <a:prstGeom prst="rect">
            <a:avLst/>
          </a:prstGeom>
        </p:spPr>
      </p:pic>
    </p:spTree>
    <p:extLst>
      <p:ext uri="{BB962C8B-B14F-4D97-AF65-F5344CB8AC3E}">
        <p14:creationId xmlns:p14="http://schemas.microsoft.com/office/powerpoint/2010/main" val="274104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98E42-05D5-F97E-89CD-92BA5D8C5ADE}"/>
              </a:ext>
            </a:extLst>
          </p:cNvPr>
          <p:cNvSpPr>
            <a:spLocks noGrp="1"/>
          </p:cNvSpPr>
          <p:nvPr>
            <p:ph type="title"/>
          </p:nvPr>
        </p:nvSpPr>
        <p:spPr>
          <a:xfrm>
            <a:off x="644628" y="213757"/>
            <a:ext cx="10058400" cy="1310243"/>
          </a:xfrm>
        </p:spPr>
        <p:txBody>
          <a:bodyPr/>
          <a:lstStyle/>
          <a:p>
            <a:r>
              <a:rPr lang="en-US" dirty="0"/>
              <a:t>Film portfolio: Genre comparison</a:t>
            </a:r>
          </a:p>
        </p:txBody>
      </p:sp>
      <p:sp>
        <p:nvSpPr>
          <p:cNvPr id="3" name="Text Placeholder 2">
            <a:extLst>
              <a:ext uri="{FF2B5EF4-FFF2-40B4-BE49-F238E27FC236}">
                <a16:creationId xmlns:a16="http://schemas.microsoft.com/office/drawing/2014/main" id="{451A9A4A-D7A1-C187-1979-1A4E4450AD71}"/>
              </a:ext>
            </a:extLst>
          </p:cNvPr>
          <p:cNvSpPr>
            <a:spLocks noGrp="1"/>
          </p:cNvSpPr>
          <p:nvPr>
            <p:ph type="body" idx="1"/>
          </p:nvPr>
        </p:nvSpPr>
        <p:spPr>
          <a:xfrm>
            <a:off x="644628" y="1266330"/>
            <a:ext cx="8535988" cy="378822"/>
          </a:xfrm>
        </p:spPr>
        <p:txBody>
          <a:bodyPr>
            <a:normAutofit/>
          </a:bodyPr>
          <a:lstStyle/>
          <a:p>
            <a:r>
              <a:rPr lang="en-US" sz="1800" dirty="0">
                <a:solidFill>
                  <a:schemeClr val="tx1"/>
                </a:solidFill>
              </a:rPr>
              <a:t>How do our genres compare in revenue?</a:t>
            </a:r>
          </a:p>
        </p:txBody>
      </p:sp>
      <p:pic>
        <p:nvPicPr>
          <p:cNvPr id="6" name="Picture 5">
            <a:extLst>
              <a:ext uri="{FF2B5EF4-FFF2-40B4-BE49-F238E27FC236}">
                <a16:creationId xmlns:a16="http://schemas.microsoft.com/office/drawing/2014/main" id="{9E64AD59-62FE-0E51-68BF-2C71FFA56E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096" y="1738594"/>
            <a:ext cx="8642976" cy="4978881"/>
          </a:xfrm>
          <a:prstGeom prst="rect">
            <a:avLst/>
          </a:prstGeom>
        </p:spPr>
      </p:pic>
    </p:spTree>
    <p:extLst>
      <p:ext uri="{BB962C8B-B14F-4D97-AF65-F5344CB8AC3E}">
        <p14:creationId xmlns:p14="http://schemas.microsoft.com/office/powerpoint/2010/main" val="2073185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98E42-05D5-F97E-89CD-92BA5D8C5ADE}"/>
              </a:ext>
            </a:extLst>
          </p:cNvPr>
          <p:cNvSpPr>
            <a:spLocks noGrp="1"/>
          </p:cNvSpPr>
          <p:nvPr>
            <p:ph type="title"/>
          </p:nvPr>
        </p:nvSpPr>
        <p:spPr>
          <a:xfrm>
            <a:off x="644628" y="213758"/>
            <a:ext cx="10058400" cy="558138"/>
          </a:xfrm>
        </p:spPr>
        <p:txBody>
          <a:bodyPr/>
          <a:lstStyle/>
          <a:p>
            <a:r>
              <a:rPr lang="en-US" dirty="0"/>
              <a:t>Customer distribution</a:t>
            </a:r>
          </a:p>
        </p:txBody>
      </p:sp>
      <p:sp>
        <p:nvSpPr>
          <p:cNvPr id="3" name="Text Placeholder 2">
            <a:extLst>
              <a:ext uri="{FF2B5EF4-FFF2-40B4-BE49-F238E27FC236}">
                <a16:creationId xmlns:a16="http://schemas.microsoft.com/office/drawing/2014/main" id="{451A9A4A-D7A1-C187-1979-1A4E4450AD71}"/>
              </a:ext>
            </a:extLst>
          </p:cNvPr>
          <p:cNvSpPr>
            <a:spLocks noGrp="1"/>
          </p:cNvSpPr>
          <p:nvPr>
            <p:ph type="body" idx="1"/>
          </p:nvPr>
        </p:nvSpPr>
        <p:spPr>
          <a:xfrm>
            <a:off x="644628" y="841858"/>
            <a:ext cx="10609220" cy="700644"/>
          </a:xfrm>
        </p:spPr>
        <p:txBody>
          <a:bodyPr>
            <a:noAutofit/>
          </a:bodyPr>
          <a:lstStyle/>
          <a:p>
            <a:r>
              <a:rPr lang="en-US" sz="1700" dirty="0">
                <a:solidFill>
                  <a:schemeClr val="tx1"/>
                </a:solidFill>
              </a:rPr>
              <a:t>Rockbuster has a customer base in 108 countries, with the highest concentrations in India, China, the United States, Japan, and Mexico. </a:t>
            </a:r>
          </a:p>
        </p:txBody>
      </p:sp>
      <p:pic>
        <p:nvPicPr>
          <p:cNvPr id="5" name="Picture 4">
            <a:extLst>
              <a:ext uri="{FF2B5EF4-FFF2-40B4-BE49-F238E27FC236}">
                <a16:creationId xmlns:a16="http://schemas.microsoft.com/office/drawing/2014/main" id="{F46CE3C3-8975-FA65-C996-63929D0306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777" y="1612464"/>
            <a:ext cx="10280071" cy="5164556"/>
          </a:xfrm>
          <a:prstGeom prst="rect">
            <a:avLst/>
          </a:prstGeom>
        </p:spPr>
      </p:pic>
    </p:spTree>
    <p:extLst>
      <p:ext uri="{BB962C8B-B14F-4D97-AF65-F5344CB8AC3E}">
        <p14:creationId xmlns:p14="http://schemas.microsoft.com/office/powerpoint/2010/main" val="781110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98E42-05D5-F97E-89CD-92BA5D8C5ADE}"/>
              </a:ext>
            </a:extLst>
          </p:cNvPr>
          <p:cNvSpPr>
            <a:spLocks noGrp="1"/>
          </p:cNvSpPr>
          <p:nvPr>
            <p:ph type="title"/>
          </p:nvPr>
        </p:nvSpPr>
        <p:spPr>
          <a:xfrm>
            <a:off x="644628" y="213758"/>
            <a:ext cx="10058400" cy="902524"/>
          </a:xfrm>
        </p:spPr>
        <p:txBody>
          <a:bodyPr/>
          <a:lstStyle/>
          <a:p>
            <a:r>
              <a:rPr lang="en-US" dirty="0"/>
              <a:t>Revenues: countries &amp; customers</a:t>
            </a:r>
          </a:p>
        </p:txBody>
      </p:sp>
      <p:sp>
        <p:nvSpPr>
          <p:cNvPr id="3" name="Text Placeholder 2">
            <a:extLst>
              <a:ext uri="{FF2B5EF4-FFF2-40B4-BE49-F238E27FC236}">
                <a16:creationId xmlns:a16="http://schemas.microsoft.com/office/drawing/2014/main" id="{451A9A4A-D7A1-C187-1979-1A4E4450AD71}"/>
              </a:ext>
            </a:extLst>
          </p:cNvPr>
          <p:cNvSpPr>
            <a:spLocks noGrp="1"/>
          </p:cNvSpPr>
          <p:nvPr>
            <p:ph type="body" idx="1"/>
          </p:nvPr>
        </p:nvSpPr>
        <p:spPr>
          <a:xfrm>
            <a:off x="644629" y="1063608"/>
            <a:ext cx="5141232" cy="704601"/>
          </a:xfrm>
        </p:spPr>
        <p:txBody>
          <a:bodyPr>
            <a:noAutofit/>
          </a:bodyPr>
          <a:lstStyle/>
          <a:p>
            <a:r>
              <a:rPr lang="en-US" sz="1550" dirty="0">
                <a:solidFill>
                  <a:schemeClr val="tx1"/>
                </a:solidFill>
              </a:rPr>
              <a:t>The top 5 countries for revenue mirror the top 5 countries for customer presence. Over half (54%) of all sales come from India and China. </a:t>
            </a:r>
          </a:p>
        </p:txBody>
      </p:sp>
      <p:sp>
        <p:nvSpPr>
          <p:cNvPr id="9" name="Text Placeholder 2">
            <a:extLst>
              <a:ext uri="{FF2B5EF4-FFF2-40B4-BE49-F238E27FC236}">
                <a16:creationId xmlns:a16="http://schemas.microsoft.com/office/drawing/2014/main" id="{E8A9F3CD-FF38-C908-E5B9-5F25F954007C}"/>
              </a:ext>
            </a:extLst>
          </p:cNvPr>
          <p:cNvSpPr txBox="1">
            <a:spLocks/>
          </p:cNvSpPr>
          <p:nvPr/>
        </p:nvSpPr>
        <p:spPr>
          <a:xfrm>
            <a:off x="6406140" y="1116281"/>
            <a:ext cx="5279179" cy="407719"/>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bg2">
                    <a:lumMod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400" kern="1200">
                <a:solidFill>
                  <a:schemeClr val="tx1">
                    <a:tint val="75000"/>
                  </a:schemeClr>
                </a:solidFill>
                <a:latin typeface="+mn-lt"/>
                <a:ea typeface="+mn-ea"/>
                <a:cs typeface="+mn-cs"/>
              </a:defRPr>
            </a:lvl9pPr>
          </a:lstStyle>
          <a:p>
            <a:r>
              <a:rPr lang="en-US" sz="1550" dirty="0">
                <a:solidFill>
                  <a:schemeClr val="tx1"/>
                </a:solidFill>
              </a:rPr>
              <a:t>4 of our top 5 most valuable customers are located within the top countries for revenue.</a:t>
            </a:r>
          </a:p>
        </p:txBody>
      </p:sp>
      <p:pic>
        <p:nvPicPr>
          <p:cNvPr id="5" name="Picture 4">
            <a:extLst>
              <a:ext uri="{FF2B5EF4-FFF2-40B4-BE49-F238E27FC236}">
                <a16:creationId xmlns:a16="http://schemas.microsoft.com/office/drawing/2014/main" id="{50AF1E04-217C-3402-8E04-4300090959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570" y="1768209"/>
            <a:ext cx="9500258" cy="5046396"/>
          </a:xfrm>
          <a:prstGeom prst="rect">
            <a:avLst/>
          </a:prstGeom>
        </p:spPr>
      </p:pic>
    </p:spTree>
    <p:extLst>
      <p:ext uri="{BB962C8B-B14F-4D97-AF65-F5344CB8AC3E}">
        <p14:creationId xmlns:p14="http://schemas.microsoft.com/office/powerpoint/2010/main" val="2647277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98E42-05D5-F97E-89CD-92BA5D8C5ADE}"/>
              </a:ext>
            </a:extLst>
          </p:cNvPr>
          <p:cNvSpPr>
            <a:spLocks noGrp="1"/>
          </p:cNvSpPr>
          <p:nvPr>
            <p:ph type="title"/>
          </p:nvPr>
        </p:nvSpPr>
        <p:spPr>
          <a:xfrm>
            <a:off x="644628" y="213758"/>
            <a:ext cx="10058400" cy="558138"/>
          </a:xfrm>
        </p:spPr>
        <p:txBody>
          <a:bodyPr/>
          <a:lstStyle/>
          <a:p>
            <a:r>
              <a:rPr lang="en-US" dirty="0"/>
              <a:t>Recommendations</a:t>
            </a:r>
          </a:p>
        </p:txBody>
      </p:sp>
      <p:sp>
        <p:nvSpPr>
          <p:cNvPr id="3" name="Text Placeholder 2">
            <a:extLst>
              <a:ext uri="{FF2B5EF4-FFF2-40B4-BE49-F238E27FC236}">
                <a16:creationId xmlns:a16="http://schemas.microsoft.com/office/drawing/2014/main" id="{451A9A4A-D7A1-C187-1979-1A4E4450AD71}"/>
              </a:ext>
            </a:extLst>
          </p:cNvPr>
          <p:cNvSpPr>
            <a:spLocks noGrp="1"/>
          </p:cNvSpPr>
          <p:nvPr>
            <p:ph type="body" idx="1"/>
          </p:nvPr>
        </p:nvSpPr>
        <p:spPr>
          <a:xfrm>
            <a:off x="644628" y="1076696"/>
            <a:ext cx="10324214" cy="5375564"/>
          </a:xfrm>
        </p:spPr>
        <p:txBody>
          <a:bodyPr>
            <a:normAutofit fontScale="62500" lnSpcReduction="20000"/>
          </a:bodyPr>
          <a:lstStyle/>
          <a:p>
            <a:r>
              <a:rPr lang="en-US" sz="2900" b="1" dirty="0">
                <a:solidFill>
                  <a:schemeClr val="tx1"/>
                </a:solidFill>
              </a:rPr>
              <a:t>Selection</a:t>
            </a:r>
          </a:p>
          <a:p>
            <a:endParaRPr lang="en-US" sz="2500" dirty="0">
              <a:solidFill>
                <a:schemeClr val="tx1"/>
              </a:solidFill>
            </a:endParaRPr>
          </a:p>
          <a:p>
            <a:pPr marL="342900" marR="0" lvl="0" indent="-342900">
              <a:lnSpc>
                <a:spcPct val="107000"/>
              </a:lnSpc>
              <a:spcBef>
                <a:spcPts val="0"/>
              </a:spcBef>
              <a:spcAft>
                <a:spcPts val="0"/>
              </a:spcAft>
              <a:buFont typeface="Symbol" panose="05050102010706020507" pitchFamily="18" charset="2"/>
              <a:buChar char=""/>
            </a:pPr>
            <a:r>
              <a:rPr lang="en-US" sz="2500" dirty="0">
                <a:solidFill>
                  <a:schemeClr val="tx1"/>
                </a:solidFill>
              </a:rPr>
              <a:t> </a:t>
            </a:r>
            <a:r>
              <a:rPr lang="en-US" sz="2500" dirty="0">
                <a:solidFill>
                  <a:schemeClr val="tx1"/>
                </a:solidFill>
                <a:effectLst/>
                <a:ea typeface="Calibri" panose="020F0502020204030204" pitchFamily="34" charset="0"/>
                <a:cs typeface="Times New Roman" panose="02020603050405020304" pitchFamily="18" charset="0"/>
              </a:rPr>
              <a:t>Assure popular titles are well stocked in physical locations</a:t>
            </a:r>
          </a:p>
          <a:p>
            <a:pPr marL="228600" marR="0">
              <a:lnSpc>
                <a:spcPct val="107000"/>
              </a:lnSpc>
              <a:spcBef>
                <a:spcPts val="0"/>
              </a:spcBef>
              <a:spcAft>
                <a:spcPts val="0"/>
              </a:spcAft>
            </a:pPr>
            <a:r>
              <a:rPr lang="en-US" sz="2500" dirty="0">
                <a:solidFill>
                  <a:schemeClr val="tx1"/>
                </a:solidFill>
                <a:effectLst/>
                <a:ea typeface="Calibri" panose="020F0502020204030204" pitchFamily="34" charset="0"/>
                <a:cs typeface="Times New Roman" panose="02020603050405020304" pitchFamily="18" charset="0"/>
              </a:rPr>
              <a:t> </a:t>
            </a:r>
          </a:p>
          <a:p>
            <a:pPr marL="342900" marR="0" lvl="0" indent="-342900">
              <a:lnSpc>
                <a:spcPct val="107000"/>
              </a:lnSpc>
              <a:spcBef>
                <a:spcPts val="0"/>
              </a:spcBef>
              <a:spcAft>
                <a:spcPts val="0"/>
              </a:spcAft>
              <a:buFont typeface="Symbol" panose="05050102010706020507" pitchFamily="18" charset="2"/>
              <a:buChar char=""/>
            </a:pPr>
            <a:r>
              <a:rPr lang="en-US" sz="2500" dirty="0">
                <a:solidFill>
                  <a:schemeClr val="tx1"/>
                </a:solidFill>
                <a:effectLst/>
                <a:ea typeface="Calibri" panose="020F0502020204030204" pitchFamily="34" charset="0"/>
                <a:cs typeface="Times New Roman" panose="02020603050405020304" pitchFamily="18" charset="0"/>
              </a:rPr>
              <a:t>Prioritize movies with MPAA ratings of PG-13 or less to appeal to larger audiences</a:t>
            </a:r>
          </a:p>
          <a:p>
            <a:pPr marL="457200" marR="0">
              <a:lnSpc>
                <a:spcPct val="107000"/>
              </a:lnSpc>
              <a:spcBef>
                <a:spcPts val="0"/>
              </a:spcBef>
              <a:spcAft>
                <a:spcPts val="0"/>
              </a:spcAft>
            </a:pPr>
            <a:r>
              <a:rPr lang="en-US" sz="2500" dirty="0">
                <a:solidFill>
                  <a:schemeClr val="tx1"/>
                </a:solidFill>
                <a:effectLst/>
                <a:ea typeface="Calibri" panose="020F0502020204030204" pitchFamily="34" charset="0"/>
                <a:cs typeface="Times New Roman" panose="02020603050405020304" pitchFamily="18" charset="0"/>
              </a:rPr>
              <a:t> </a:t>
            </a:r>
          </a:p>
          <a:p>
            <a:pPr marL="342900" marR="0" lvl="0" indent="-342900">
              <a:lnSpc>
                <a:spcPct val="107000"/>
              </a:lnSpc>
              <a:spcBef>
                <a:spcPts val="0"/>
              </a:spcBef>
              <a:spcAft>
                <a:spcPts val="800"/>
              </a:spcAft>
              <a:buFont typeface="Symbol" panose="05050102010706020507" pitchFamily="18" charset="2"/>
              <a:buChar char=""/>
            </a:pPr>
            <a:r>
              <a:rPr lang="en-US" sz="2500" dirty="0">
                <a:solidFill>
                  <a:schemeClr val="tx1"/>
                </a:solidFill>
                <a:effectLst/>
                <a:ea typeface="Calibri" panose="020F0502020204030204" pitchFamily="34" charset="0"/>
                <a:cs typeface="Times New Roman" panose="02020603050405020304" pitchFamily="18" charset="0"/>
              </a:rPr>
              <a:t>Top genres, including sports, sci-fi, animation, drama, and comedies should represent a large proportion of our inventory</a:t>
            </a:r>
          </a:p>
          <a:p>
            <a:pPr marR="0" lvl="0">
              <a:lnSpc>
                <a:spcPct val="107000"/>
              </a:lnSpc>
              <a:spcBef>
                <a:spcPts val="0"/>
              </a:spcBef>
              <a:spcAft>
                <a:spcPts val="800"/>
              </a:spcAft>
            </a:pPr>
            <a:endParaRPr lang="en-US" sz="2500" dirty="0">
              <a:solidFill>
                <a:schemeClr val="tx1"/>
              </a:solidFill>
            </a:endParaRPr>
          </a:p>
          <a:p>
            <a:r>
              <a:rPr lang="en-US" sz="2900" b="1" dirty="0">
                <a:solidFill>
                  <a:schemeClr val="tx1"/>
                </a:solidFill>
              </a:rPr>
              <a:t>Customer Base</a:t>
            </a:r>
          </a:p>
          <a:p>
            <a:endParaRPr lang="en-US" sz="2500" dirty="0">
              <a:solidFill>
                <a:schemeClr val="tx1"/>
              </a:solidFill>
            </a:endParaRPr>
          </a:p>
          <a:p>
            <a:pPr marL="342900" marR="0" lvl="0" indent="-342900">
              <a:lnSpc>
                <a:spcPct val="107000"/>
              </a:lnSpc>
              <a:spcBef>
                <a:spcPts val="0"/>
              </a:spcBef>
              <a:spcAft>
                <a:spcPts val="0"/>
              </a:spcAft>
              <a:buFont typeface="Symbol" panose="05050102010706020507" pitchFamily="18" charset="2"/>
              <a:buChar char=""/>
            </a:pPr>
            <a:r>
              <a:rPr lang="en-US" sz="2500" dirty="0">
                <a:solidFill>
                  <a:schemeClr val="tx1"/>
                </a:solidFill>
                <a:effectLst/>
                <a:ea typeface="Calibri" panose="020F0502020204030204" pitchFamily="34" charset="0"/>
                <a:cs typeface="Times New Roman" panose="02020603050405020304" pitchFamily="18" charset="0"/>
              </a:rPr>
              <a:t>Understand the regional differences in the preferences of our customers by frequently analyzing viewing trends; a one size fits all approach will not adequately represent our customer base</a:t>
            </a:r>
          </a:p>
          <a:p>
            <a:pPr marR="0" lvl="0">
              <a:lnSpc>
                <a:spcPct val="107000"/>
              </a:lnSpc>
              <a:spcBef>
                <a:spcPts val="0"/>
              </a:spcBef>
              <a:spcAft>
                <a:spcPts val="0"/>
              </a:spcAft>
            </a:pPr>
            <a:endParaRPr lang="en-US" sz="2500" dirty="0">
              <a:solidFill>
                <a:schemeClr val="tx1"/>
              </a:solidFill>
              <a:effectLs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500" dirty="0">
                <a:solidFill>
                  <a:schemeClr val="tx1"/>
                </a:solidFill>
                <a:effectLst/>
                <a:ea typeface="Calibri" panose="020F0502020204030204" pitchFamily="34" charset="0"/>
                <a:cs typeface="Times New Roman" panose="02020603050405020304" pitchFamily="18" charset="0"/>
              </a:rPr>
              <a:t>Incentivize spending at Rockbuster with a rewards program to entice new customers and maintain loyalty with existing customers. Possible rewards could include:</a:t>
            </a:r>
          </a:p>
          <a:p>
            <a:pPr marL="457200" marR="0">
              <a:lnSpc>
                <a:spcPct val="107000"/>
              </a:lnSpc>
              <a:spcBef>
                <a:spcPts val="0"/>
              </a:spcBef>
              <a:spcAft>
                <a:spcPts val="0"/>
              </a:spcAft>
            </a:pPr>
            <a:r>
              <a:rPr lang="en-US" sz="2500" dirty="0">
                <a:solidFill>
                  <a:schemeClr val="tx1"/>
                </a:solidFill>
                <a:effectLst/>
                <a:ea typeface="Calibri" panose="020F0502020204030204" pitchFamily="34" charset="0"/>
                <a:cs typeface="Times New Roman" panose="02020603050405020304" pitchFamily="18" charset="0"/>
              </a:rPr>
              <a:t> </a:t>
            </a:r>
          </a:p>
          <a:p>
            <a:pPr marL="742950" marR="0" lvl="1" indent="-285750">
              <a:lnSpc>
                <a:spcPct val="107000"/>
              </a:lnSpc>
              <a:spcBef>
                <a:spcPts val="0"/>
              </a:spcBef>
              <a:spcAft>
                <a:spcPts val="0"/>
              </a:spcAft>
              <a:buFont typeface="Courier New" panose="02070309020205020404" pitchFamily="49" charset="0"/>
              <a:buChar char="o"/>
            </a:pPr>
            <a:r>
              <a:rPr lang="en-US" sz="2500" dirty="0">
                <a:solidFill>
                  <a:schemeClr val="tx1"/>
                </a:solidFill>
                <a:effectLst/>
                <a:ea typeface="Calibri" panose="020F0502020204030204" pitchFamily="34" charset="0"/>
                <a:cs typeface="Times New Roman" panose="02020603050405020304" pitchFamily="18" charset="0"/>
              </a:rPr>
              <a:t>Discounts on rentals</a:t>
            </a:r>
          </a:p>
          <a:p>
            <a:pPr marL="742950" marR="0" lvl="1" indent="-285750">
              <a:lnSpc>
                <a:spcPct val="107000"/>
              </a:lnSpc>
              <a:spcBef>
                <a:spcPts val="0"/>
              </a:spcBef>
              <a:spcAft>
                <a:spcPts val="0"/>
              </a:spcAft>
              <a:buFont typeface="Courier New" panose="02070309020205020404" pitchFamily="49" charset="0"/>
              <a:buChar char="o"/>
            </a:pPr>
            <a:r>
              <a:rPr lang="en-US" sz="2500" dirty="0">
                <a:solidFill>
                  <a:schemeClr val="tx1"/>
                </a:solidFill>
                <a:effectLst/>
                <a:ea typeface="Calibri" panose="020F0502020204030204" pitchFamily="34" charset="0"/>
                <a:cs typeface="Times New Roman" panose="02020603050405020304" pitchFamily="18" charset="0"/>
              </a:rPr>
              <a:t>Early access to new releases</a:t>
            </a:r>
          </a:p>
          <a:p>
            <a:pPr marL="742950" marR="0" lvl="1" indent="-285750">
              <a:lnSpc>
                <a:spcPct val="107000"/>
              </a:lnSpc>
              <a:spcBef>
                <a:spcPts val="0"/>
              </a:spcBef>
              <a:spcAft>
                <a:spcPts val="800"/>
              </a:spcAft>
              <a:buFont typeface="Courier New" panose="02070309020205020404" pitchFamily="49" charset="0"/>
              <a:buChar char="o"/>
            </a:pPr>
            <a:r>
              <a:rPr lang="en-US" sz="2500" dirty="0">
                <a:solidFill>
                  <a:schemeClr val="tx1"/>
                </a:solidFill>
                <a:effectLst/>
                <a:ea typeface="Calibri" panose="020F0502020204030204" pitchFamily="34" charset="0"/>
                <a:cs typeface="Times New Roman" panose="02020603050405020304" pitchFamily="18" charset="0"/>
              </a:rPr>
              <a:t>Free rental vouchers for birthdays or reaching Rockbuster anniversary milestones (i.e., 1 year, 5 year, etc.)</a:t>
            </a:r>
            <a:endParaRPr lang="en-US" sz="1400" dirty="0">
              <a:solidFill>
                <a:schemeClr val="tx1"/>
              </a:solidFill>
            </a:endParaRPr>
          </a:p>
          <a:p>
            <a:endParaRPr lang="en-US" sz="1400" dirty="0">
              <a:solidFill>
                <a:schemeClr val="tx1"/>
              </a:solidFill>
            </a:endParaRPr>
          </a:p>
          <a:p>
            <a:endParaRPr lang="en-US" sz="1600" dirty="0">
              <a:solidFill>
                <a:schemeClr val="tx1"/>
              </a:solidFill>
            </a:endParaRPr>
          </a:p>
        </p:txBody>
      </p:sp>
    </p:spTree>
    <p:extLst>
      <p:ext uri="{BB962C8B-B14F-4D97-AF65-F5344CB8AC3E}">
        <p14:creationId xmlns:p14="http://schemas.microsoft.com/office/powerpoint/2010/main" val="2199329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98E42-05D5-F97E-89CD-92BA5D8C5ADE}"/>
              </a:ext>
            </a:extLst>
          </p:cNvPr>
          <p:cNvSpPr>
            <a:spLocks noGrp="1"/>
          </p:cNvSpPr>
          <p:nvPr>
            <p:ph type="title"/>
          </p:nvPr>
        </p:nvSpPr>
        <p:spPr>
          <a:xfrm>
            <a:off x="644628" y="213758"/>
            <a:ext cx="10058400" cy="558138"/>
          </a:xfrm>
        </p:spPr>
        <p:txBody>
          <a:bodyPr/>
          <a:lstStyle/>
          <a:p>
            <a:r>
              <a:rPr lang="en-US" dirty="0"/>
              <a:t>Recommendations</a:t>
            </a:r>
          </a:p>
        </p:txBody>
      </p:sp>
      <p:sp>
        <p:nvSpPr>
          <p:cNvPr id="3" name="Text Placeholder 2">
            <a:extLst>
              <a:ext uri="{FF2B5EF4-FFF2-40B4-BE49-F238E27FC236}">
                <a16:creationId xmlns:a16="http://schemas.microsoft.com/office/drawing/2014/main" id="{451A9A4A-D7A1-C187-1979-1A4E4450AD71}"/>
              </a:ext>
            </a:extLst>
          </p:cNvPr>
          <p:cNvSpPr>
            <a:spLocks noGrp="1"/>
          </p:cNvSpPr>
          <p:nvPr>
            <p:ph type="body" idx="1"/>
          </p:nvPr>
        </p:nvSpPr>
        <p:spPr>
          <a:xfrm>
            <a:off x="644628" y="1052945"/>
            <a:ext cx="10324214" cy="4682837"/>
          </a:xfrm>
        </p:spPr>
        <p:txBody>
          <a:bodyPr>
            <a:normAutofit/>
          </a:bodyPr>
          <a:lstStyle/>
          <a:p>
            <a:pPr marR="0" lvl="1">
              <a:lnSpc>
                <a:spcPct val="107000"/>
              </a:lnSpc>
              <a:spcBef>
                <a:spcPts val="0"/>
              </a:spcBef>
              <a:spcAft>
                <a:spcPts val="800"/>
              </a:spcAft>
            </a:pPr>
            <a:endParaRPr lang="en-US" sz="2500" b="1" dirty="0">
              <a:solidFill>
                <a:schemeClr val="tx1"/>
              </a:solidFill>
            </a:endParaRPr>
          </a:p>
          <a:p>
            <a:r>
              <a:rPr lang="en-US" sz="1800" b="1" dirty="0">
                <a:solidFill>
                  <a:schemeClr val="tx1"/>
                </a:solidFill>
              </a:rPr>
              <a:t>Revenue</a:t>
            </a:r>
          </a:p>
          <a:p>
            <a:endParaRPr lang="en-US" sz="1600" dirty="0">
              <a:solidFill>
                <a:schemeClr val="tx1"/>
              </a:solidFill>
            </a:endParaRPr>
          </a:p>
          <a:p>
            <a:pPr marL="342900" marR="0" lvl="0" indent="-342900">
              <a:lnSpc>
                <a:spcPct val="107000"/>
              </a:lnSpc>
              <a:spcBef>
                <a:spcPts val="0"/>
              </a:spcBef>
              <a:spcAft>
                <a:spcPts val="800"/>
              </a:spcAft>
              <a:buFont typeface="Symbol" panose="05050102010706020507" pitchFamily="18" charset="2"/>
              <a:buChar char=""/>
            </a:pPr>
            <a:r>
              <a:rPr lang="en-US" sz="1600" dirty="0">
                <a:solidFill>
                  <a:schemeClr val="tx1"/>
                </a:solidFill>
                <a:effectLst/>
                <a:ea typeface="Calibri" panose="020F0502020204030204" pitchFamily="34" charset="0"/>
                <a:cs typeface="Times New Roman" panose="02020603050405020304" pitchFamily="18" charset="0"/>
              </a:rPr>
              <a:t>Closely monitor regions with high ROI, such as India and China, which account for over half of company sales; maintain a strong advertising presence and a focus on customer retention efforts</a:t>
            </a:r>
          </a:p>
          <a:p>
            <a:pPr marL="342900" marR="0" lvl="0" indent="-342900">
              <a:lnSpc>
                <a:spcPct val="107000"/>
              </a:lnSpc>
              <a:spcBef>
                <a:spcPts val="0"/>
              </a:spcBef>
              <a:spcAft>
                <a:spcPts val="0"/>
              </a:spcAft>
              <a:buFont typeface="Symbol" panose="05050102010706020507" pitchFamily="18" charset="2"/>
              <a:buChar char=""/>
            </a:pPr>
            <a:r>
              <a:rPr lang="en-US" sz="1600" dirty="0">
                <a:solidFill>
                  <a:schemeClr val="tx1"/>
                </a:solidFill>
                <a:effectLst/>
                <a:ea typeface="Calibri" panose="020F0502020204030204" pitchFamily="34" charset="0"/>
                <a:cs typeface="Times New Roman" panose="02020603050405020304" pitchFamily="18" charset="0"/>
              </a:rPr>
              <a:t>Use research methods, such as surveys, social media monitoring, and online tracking to explore other markets for possible expansion or to bolster our current presence</a:t>
            </a:r>
          </a:p>
          <a:p>
            <a:pPr marL="457200" marR="0">
              <a:lnSpc>
                <a:spcPct val="107000"/>
              </a:lnSpc>
              <a:spcBef>
                <a:spcPts val="0"/>
              </a:spcBef>
              <a:spcAft>
                <a:spcPts val="0"/>
              </a:spcAft>
            </a:pPr>
            <a:r>
              <a:rPr lang="en-US" sz="1600" dirty="0">
                <a:solidFill>
                  <a:schemeClr val="tx1"/>
                </a:solidFill>
                <a:effectLst/>
                <a:ea typeface="Calibri" panose="020F0502020204030204" pitchFamily="34" charset="0"/>
                <a:cs typeface="Times New Roman" panose="02020603050405020304" pitchFamily="18" charset="0"/>
              </a:rPr>
              <a:t> </a:t>
            </a:r>
          </a:p>
          <a:p>
            <a:pPr marL="342900" marR="0" lvl="0" indent="-342900">
              <a:lnSpc>
                <a:spcPct val="107000"/>
              </a:lnSpc>
              <a:spcBef>
                <a:spcPts val="0"/>
              </a:spcBef>
              <a:spcAft>
                <a:spcPts val="0"/>
              </a:spcAft>
              <a:buFont typeface="Symbol" panose="05050102010706020507" pitchFamily="18" charset="2"/>
              <a:buChar char=""/>
            </a:pPr>
            <a:r>
              <a:rPr lang="en-US" sz="1600" dirty="0">
                <a:solidFill>
                  <a:schemeClr val="tx1"/>
                </a:solidFill>
                <a:effectLst/>
                <a:ea typeface="Calibri" panose="020F0502020204030204" pitchFamily="34" charset="0"/>
                <a:cs typeface="Times New Roman" panose="02020603050405020304" pitchFamily="18" charset="0"/>
              </a:rPr>
              <a:t>Assure entrance into new markets is both economically feasible and the market has a measurable interest in the film industry based on the aforementioned research methods.</a:t>
            </a:r>
          </a:p>
          <a:p>
            <a:pPr marL="457200" marR="0">
              <a:lnSpc>
                <a:spcPct val="107000"/>
              </a:lnSpc>
              <a:spcBef>
                <a:spcPts val="0"/>
              </a:spcBef>
              <a:spcAft>
                <a:spcPts val="0"/>
              </a:spcAft>
            </a:pPr>
            <a:r>
              <a:rPr lang="en-US" sz="1600" dirty="0">
                <a:solidFill>
                  <a:schemeClr val="tx1"/>
                </a:solidFill>
                <a:effectLst/>
                <a:ea typeface="Calibri" panose="020F0502020204030204" pitchFamily="34" charset="0"/>
                <a:cs typeface="Times New Roman" panose="02020603050405020304" pitchFamily="18" charset="0"/>
              </a:rPr>
              <a:t> </a:t>
            </a:r>
          </a:p>
          <a:p>
            <a:pPr marL="342900" marR="0" lvl="0" indent="-342900">
              <a:lnSpc>
                <a:spcPct val="107000"/>
              </a:lnSpc>
              <a:spcBef>
                <a:spcPts val="0"/>
              </a:spcBef>
              <a:spcAft>
                <a:spcPts val="800"/>
              </a:spcAft>
              <a:buFont typeface="Symbol" panose="05050102010706020507" pitchFamily="18" charset="2"/>
              <a:buChar char=""/>
            </a:pPr>
            <a:r>
              <a:rPr lang="en-US" sz="1600" dirty="0">
                <a:solidFill>
                  <a:schemeClr val="tx1"/>
                </a:solidFill>
                <a:effectLst/>
                <a:ea typeface="Calibri" panose="020F0502020204030204" pitchFamily="34" charset="0"/>
                <a:cs typeface="Times New Roman" panose="02020603050405020304" pitchFamily="18" charset="0"/>
              </a:rPr>
              <a:t>Analyze the telecommunications standards in new markets to assure bandwidth requirements for streaming services are sufficient</a:t>
            </a:r>
          </a:p>
          <a:p>
            <a:endParaRPr lang="en-US" sz="1400" dirty="0">
              <a:solidFill>
                <a:schemeClr val="tx1"/>
              </a:solidFill>
            </a:endParaRPr>
          </a:p>
          <a:p>
            <a:endParaRPr lang="en-US" sz="1400" dirty="0">
              <a:solidFill>
                <a:schemeClr val="tx1"/>
              </a:solidFill>
            </a:endParaRPr>
          </a:p>
          <a:p>
            <a:endParaRPr lang="en-US" sz="1600" dirty="0">
              <a:solidFill>
                <a:schemeClr val="tx1"/>
              </a:solidFill>
            </a:endParaRPr>
          </a:p>
        </p:txBody>
      </p:sp>
    </p:spTree>
    <p:extLst>
      <p:ext uri="{BB962C8B-B14F-4D97-AF65-F5344CB8AC3E}">
        <p14:creationId xmlns:p14="http://schemas.microsoft.com/office/powerpoint/2010/main" val="2622697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98E42-05D5-F97E-89CD-92BA5D8C5ADE}"/>
              </a:ext>
            </a:extLst>
          </p:cNvPr>
          <p:cNvSpPr>
            <a:spLocks noGrp="1"/>
          </p:cNvSpPr>
          <p:nvPr>
            <p:ph type="title"/>
          </p:nvPr>
        </p:nvSpPr>
        <p:spPr>
          <a:xfrm>
            <a:off x="644628" y="213758"/>
            <a:ext cx="10058400" cy="902524"/>
          </a:xfrm>
        </p:spPr>
        <p:txBody>
          <a:bodyPr/>
          <a:lstStyle/>
          <a:p>
            <a:r>
              <a:rPr lang="en-US" dirty="0"/>
              <a:t>Questions and follow up</a:t>
            </a:r>
          </a:p>
        </p:txBody>
      </p:sp>
      <p:sp>
        <p:nvSpPr>
          <p:cNvPr id="3" name="Text Placeholder 2">
            <a:extLst>
              <a:ext uri="{FF2B5EF4-FFF2-40B4-BE49-F238E27FC236}">
                <a16:creationId xmlns:a16="http://schemas.microsoft.com/office/drawing/2014/main" id="{451A9A4A-D7A1-C187-1979-1A4E4450AD71}"/>
              </a:ext>
            </a:extLst>
          </p:cNvPr>
          <p:cNvSpPr>
            <a:spLocks noGrp="1"/>
          </p:cNvSpPr>
          <p:nvPr>
            <p:ph type="body" idx="1"/>
          </p:nvPr>
        </p:nvSpPr>
        <p:spPr>
          <a:xfrm>
            <a:off x="644628" y="1211285"/>
            <a:ext cx="10324214" cy="2842159"/>
          </a:xfrm>
        </p:spPr>
        <p:txBody>
          <a:bodyPr>
            <a:normAutofit/>
          </a:bodyPr>
          <a:lstStyle/>
          <a:p>
            <a:r>
              <a:rPr lang="en-US" sz="1600" dirty="0">
                <a:solidFill>
                  <a:schemeClr val="tx1"/>
                </a:solidFill>
              </a:rPr>
              <a:t>For any questions regarding this presentation, data sourcing, or the data analysis, please contact me at: </a:t>
            </a:r>
            <a:r>
              <a:rPr lang="en-US" sz="1600" dirty="0">
                <a:solidFill>
                  <a:schemeClr val="tx1"/>
                </a:solidFill>
                <a:hlinkClick r:id="rId2"/>
              </a:rPr>
              <a:t>dgolcher86@gmail.com</a:t>
            </a:r>
            <a:endParaRPr lang="en-US" sz="1600" dirty="0">
              <a:solidFill>
                <a:schemeClr val="tx1"/>
              </a:solidFill>
            </a:endParaRPr>
          </a:p>
          <a:p>
            <a:endParaRPr lang="en-US" sz="1600" dirty="0">
              <a:solidFill>
                <a:schemeClr val="tx1"/>
              </a:solidFill>
            </a:endParaRPr>
          </a:p>
          <a:p>
            <a:r>
              <a:rPr lang="en-US" sz="1600" dirty="0">
                <a:solidFill>
                  <a:schemeClr val="tx1"/>
                </a:solidFill>
              </a:rPr>
              <a:t>To view the Tableau visualizations used in this presentation, please use the following link: </a:t>
            </a:r>
            <a:r>
              <a:rPr lang="en-US" sz="1600" dirty="0">
                <a:solidFill>
                  <a:schemeClr val="tx1"/>
                </a:solidFill>
                <a:hlinkClick r:id="rId3"/>
              </a:rPr>
              <a:t>Rockbuster Stealth Business Report</a:t>
            </a:r>
            <a:endParaRPr lang="en-US" sz="1600" dirty="0">
              <a:solidFill>
                <a:schemeClr val="tx1"/>
              </a:solidFill>
            </a:endParaRPr>
          </a:p>
          <a:p>
            <a:endParaRPr lang="en-US" sz="1600" dirty="0">
              <a:solidFill>
                <a:schemeClr val="tx1"/>
              </a:solidFill>
            </a:endParaRPr>
          </a:p>
          <a:p>
            <a:r>
              <a:rPr lang="en-US" sz="1600" dirty="0">
                <a:solidFill>
                  <a:schemeClr val="tx1"/>
                </a:solidFill>
              </a:rPr>
              <a:t>Thank you!</a:t>
            </a:r>
          </a:p>
        </p:txBody>
      </p:sp>
    </p:spTree>
    <p:extLst>
      <p:ext uri="{BB962C8B-B14F-4D97-AF65-F5344CB8AC3E}">
        <p14:creationId xmlns:p14="http://schemas.microsoft.com/office/powerpoint/2010/main" val="2714703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2091</TotalTime>
  <Words>569</Words>
  <Application>Microsoft Office PowerPoint</Application>
  <PresentationFormat>Widescreen</PresentationFormat>
  <Paragraphs>67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Courier New</vt:lpstr>
      <vt:lpstr>Symbol</vt:lpstr>
      <vt:lpstr>Office Theme</vt:lpstr>
      <vt:lpstr>Rockbuster Stealth</vt:lpstr>
      <vt:lpstr>Overview &amp; objectives</vt:lpstr>
      <vt:lpstr>Rockbuster stealth stats at a glance</vt:lpstr>
      <vt:lpstr>Film portfolio: top 5 &amp; bottom 5</vt:lpstr>
      <vt:lpstr>Film portfolio: Genre comparison</vt:lpstr>
      <vt:lpstr>Customer distribution</vt:lpstr>
      <vt:lpstr>Revenues: countries &amp; customers</vt:lpstr>
      <vt:lpstr>Recommendations</vt:lpstr>
      <vt:lpstr>Recommendations</vt:lpstr>
      <vt:lpstr>Questions and follow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Rockbuster Stealth</dc:title>
  <dc:creator>Dylan Golcher</dc:creator>
  <cp:lastModifiedBy>Dylan Golcher</cp:lastModifiedBy>
  <cp:revision>20</cp:revision>
  <dcterms:created xsi:type="dcterms:W3CDTF">2022-11-08T23:00:31Z</dcterms:created>
  <dcterms:modified xsi:type="dcterms:W3CDTF">2022-11-14T18:31:42Z</dcterms:modified>
</cp:coreProperties>
</file>